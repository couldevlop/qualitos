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+MlzLaTLTcBqgteTGgE5YqnAH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7945e1db0a0bb099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7945e1db0a0bb09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7.png"/><Relationship Id="rId5" Type="http://schemas.openxmlformats.org/officeDocument/2006/relationships/oleObject" Target="../embeddings/oleObject1.bin"/><Relationship Id="rId6" Type="http://schemas.openxmlformats.org/officeDocument/2006/relationships/oleObject" Target="../embeddings/oleObject1.bin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2.vml"/><Relationship Id="rId4" Type="http://schemas.openxmlformats.org/officeDocument/2006/relationships/image" Target="../media/image4.png"/><Relationship Id="rId5" Type="http://schemas.openxmlformats.org/officeDocument/2006/relationships/oleObject" Target="../embeddings/oleObject2.bin"/><Relationship Id="rId6" Type="http://schemas.openxmlformats.org/officeDocument/2006/relationships/oleObject" Target="../embeddings/oleObject2.bin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230702" y="31148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fr-FR"/>
              <a:t>SPC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230702" y="279115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/>
              <a:t>2 sous-sections :</a:t>
            </a:r>
            <a:endParaRPr/>
          </a:p>
          <a:p>
            <a:pPr indent="-342900" lvl="0" marL="3429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fr-FR"/>
              <a:t>Control charts</a:t>
            </a:r>
            <a:endParaRPr/>
          </a:p>
          <a:p>
            <a:pPr indent="-342900" lvl="0" marL="3429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-"/>
            </a:pPr>
            <a:r>
              <a:rPr lang="fr-FR"/>
              <a:t>Gage R&amp;R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371669" y="657454"/>
            <a:ext cx="2642118" cy="390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fr-FR" sz="2000"/>
              <a:t>Première interface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409978" y="5607076"/>
            <a:ext cx="66450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0" i="0" lang="fr-F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Ouvrir le lien pour voir le contenu des listes déroulantes</a:t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669" y="1129032"/>
            <a:ext cx="8855207" cy="439712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2"/>
          <p:cNvGraphicFramePr/>
          <p:nvPr/>
        </p:nvGraphicFramePr>
        <p:xfrm>
          <a:off x="6951288" y="5670739"/>
          <a:ext cx="3805527" cy="783208"/>
        </p:xfrm>
        <a:graphic>
          <a:graphicData uri="http://schemas.openxmlformats.org/presentationml/2006/ole">
            <mc:AlternateContent>
              <mc:Choice Requires="v">
                <p:oleObj r:id="rId5" imgH="783208" imgW="3805527" progId="Package" spid="_x0000_s1">
                  <p:embed/>
                </p:oleObj>
              </mc:Choice>
              <mc:Fallback>
                <p:oleObj r:id="rId6" imgH="783208" imgW="3805527" progId="Package">
                  <p:embed/>
                  <p:pic>
                    <p:nvPicPr>
                      <p:cNvPr id="93" name="Google Shape;93;p2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951288" y="5670739"/>
                        <a:ext cx="3805527" cy="783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Google Shape;94;p2"/>
          <p:cNvSpPr/>
          <p:nvPr/>
        </p:nvSpPr>
        <p:spPr>
          <a:xfrm>
            <a:off x="9635413" y="3121226"/>
            <a:ext cx="501259" cy="2985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9372600" y="3419806"/>
            <a:ext cx="2819400" cy="53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Pour les valeurs entre 1,33 et 1,67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9635413" y="3864865"/>
            <a:ext cx="501259" cy="298580"/>
          </a:xfrm>
          <a:prstGeom prst="rect">
            <a:avLst/>
          </a:prstGeom>
          <a:solidFill>
            <a:srgbClr val="C1F0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00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372600" y="4163445"/>
            <a:ext cx="2819400" cy="53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Pour les valeurs sup a 1,67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9635413" y="4638220"/>
            <a:ext cx="501259" cy="2985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9372600" y="4936800"/>
            <a:ext cx="2819400" cy="535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fr-F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Pour les valeurs inf a 1,33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4080294" y="209687"/>
            <a:ext cx="287101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charts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608045" y="0"/>
            <a:ext cx="11661710" cy="1015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fr-FR" sz="2000"/>
              <a:t>Dans chaque ligne on aura l’interface suivante (les 4 slides), </a:t>
            </a:r>
            <a:br>
              <a:rPr lang="fr-FR" sz="2000"/>
            </a:br>
            <a:r>
              <a:rPr b="1" lang="fr-FR" sz="2000">
                <a:solidFill>
                  <a:srgbClr val="FF0000"/>
                </a:solidFill>
              </a:rPr>
              <a:t>il faut se baser sur le fichier Excel mis dans le drive pour les formules</a:t>
            </a:r>
            <a:endParaRPr/>
          </a:p>
        </p:txBody>
      </p:sp>
      <p:pic>
        <p:nvPicPr>
          <p:cNvPr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45" y="1177540"/>
            <a:ext cx="8855207" cy="50067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608045" y="6346797"/>
            <a:ext cx="6850224" cy="315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fr-FR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Ne pas tenir compte de la case « recharger l’exemple »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801" y="398962"/>
            <a:ext cx="8779001" cy="1767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>
            <p:ph type="title"/>
          </p:nvPr>
        </p:nvSpPr>
        <p:spPr>
          <a:xfrm>
            <a:off x="599275" y="3583248"/>
            <a:ext cx="81651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fr-FR" sz="2000"/>
              <a:t>En cliquant sur « voir les formules » on aura la slide suivante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599275" y="4332098"/>
            <a:ext cx="6850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fr-FR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Ouvrir le lien pour mieux visualiser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115" name="Google Shape;115;p4"/>
          <p:cNvGraphicFramePr/>
          <p:nvPr/>
        </p:nvGraphicFramePr>
        <p:xfrm>
          <a:off x="0" y="5042533"/>
          <a:ext cx="6891428" cy="1222310"/>
        </p:xfrm>
        <a:graphic>
          <a:graphicData uri="http://schemas.openxmlformats.org/presentationml/2006/ole">
            <mc:AlternateContent>
              <mc:Choice Requires="v">
                <p:oleObj r:id="rId5" imgH="1222310" imgW="6891428" progId="Package" spid="_x0000_s1">
                  <p:embed/>
                </p:oleObj>
              </mc:Choice>
              <mc:Fallback>
                <p:oleObj r:id="rId6" imgH="1222310" imgW="6891428" progId="Package">
                  <p:embed/>
                  <p:pic>
                    <p:nvPicPr>
                      <p:cNvPr id="115" name="Google Shape;115;p4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0" y="5042533"/>
                        <a:ext cx="6891428" cy="1222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Google Shape;116;p4"/>
          <p:cNvSpPr txBox="1"/>
          <p:nvPr/>
        </p:nvSpPr>
        <p:spPr>
          <a:xfrm>
            <a:off x="599266" y="2563791"/>
            <a:ext cx="95151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fr-FR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Si le </a:t>
            </a:r>
            <a:r>
              <a:rPr lang="fr-FR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procédé</a:t>
            </a:r>
            <a:r>
              <a:rPr lang="fr-FR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est non maitrisé (Cpk inf à 1,67), ca sera surligné en rouge 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7643050" y="1281575"/>
            <a:ext cx="30639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fr-FR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Ne pas tenir compte de la case « sous-groupes complets »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6850" y="190219"/>
            <a:ext cx="5464013" cy="647756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497631" y="5659216"/>
            <a:ext cx="314938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Ces données sont brutes, elles proviennent de tables statistiques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497632" y="2471352"/>
            <a:ext cx="31493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part USL et LSL, toutes les autres valeurs sont calculées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282751" y="233265"/>
            <a:ext cx="457200" cy="5122506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282751" y="5495730"/>
            <a:ext cx="457200" cy="125030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7634" y="133064"/>
            <a:ext cx="7056732" cy="659187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 txBox="1"/>
          <p:nvPr/>
        </p:nvSpPr>
        <p:spPr>
          <a:xfrm>
            <a:off x="7914225" y="5270425"/>
            <a:ext cx="3508500" cy="9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fr-FR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Ne pas tenir compte de la case « hors tolerance… »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7945e1db0a0bb099_0_2"/>
          <p:cNvSpPr txBox="1"/>
          <p:nvPr/>
        </p:nvSpPr>
        <p:spPr>
          <a:xfrm>
            <a:off x="915150" y="578975"/>
            <a:ext cx="84123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</a:rPr>
              <a:t>Dispersion : 54 % de la tolérance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Formule : 6 × sigma / (USL − LSL) × 100.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Application : 6 × 4,53 = 27,2, puis 27,2 / 50 = 54,4 %.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38" name="Google Shape;138;h7945e1db0a0bb099_0_2"/>
          <p:cNvSpPr txBox="1"/>
          <p:nvPr/>
        </p:nvSpPr>
        <p:spPr>
          <a:xfrm>
            <a:off x="765725" y="2306575"/>
            <a:ext cx="100368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-FR" sz="1500">
                <a:solidFill>
                  <a:schemeClr val="dk1"/>
                </a:solidFill>
              </a:rPr>
              <a:t>Centrage : décalé de 4 %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Le milieu de la tolérance est (475 + 525) / 2 = 500, donc la moyenne est à 499,0 − 500 = −1,0 du milieu.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-FR" sz="1500">
                <a:solidFill>
                  <a:schemeClr val="dk1"/>
                </a:solidFill>
              </a:rPr>
              <a:t>Ce décalage est exprimé en % de la </a:t>
            </a:r>
            <a:r>
              <a:rPr b="1" lang="fr-FR" sz="1500">
                <a:solidFill>
                  <a:schemeClr val="dk1"/>
                </a:solidFill>
              </a:rPr>
              <a:t>demi-tolérance</a:t>
            </a:r>
            <a:r>
              <a:rPr lang="fr-FR" sz="1500">
                <a:solidFill>
                  <a:schemeClr val="dk1"/>
                </a:solidFill>
              </a:rPr>
              <a:t> : 1,0 / 25 = 4 %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/>
        </p:nvSpPr>
        <p:spPr>
          <a:xfrm>
            <a:off x="4565529" y="207835"/>
            <a:ext cx="25426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Gage R&amp;R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4169229" y="2333884"/>
            <a:ext cx="411635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/>
              <a:t>Bon courage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2026-10-17T20:53:29Z</dcterms:created>
  <dc:creator>ahmed el mouatassim</dc:creator>
</cp:coreProperties>
</file>