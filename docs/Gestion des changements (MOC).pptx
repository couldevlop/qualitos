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99165E-1A20-EC19-CE11-F761D5343F8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CC48AC3-C201-4FD4-4A1D-5CAF8376D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28B7D51-4B30-C8EE-A093-5ADAD6A707A1}"/>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61123065-721E-902E-72EE-9F84C6BD59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1C2564D-6AB8-B7CA-48D8-D3464F9FBCD5}"/>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2575329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8977C0-811A-B5A1-F647-29D83EFEDBB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B61C65A-5CD1-AD20-2863-571769294A7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556AE04-C519-1E99-194D-7DE89640D109}"/>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BB4639E6-B1E8-A900-F717-77F9BBB3ED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886C623-50BB-7342-91A7-A3976DD54C12}"/>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71458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44F957-772E-B8B7-609E-D35DC0BBEBF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240C536-11DA-D035-EF8A-6F90B70EF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448ABC3-2677-4CBF-4C6A-65D4E4D405CA}"/>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82348D7E-8F09-D2B4-5DD6-4CADFC18371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8EE61BA-87F0-36F7-C258-E4FABC0EAE52}"/>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235459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447B90-6E21-8347-CF71-9058183C374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BF0AFEC-C6D6-A941-F589-731B0400537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86FF0F2-6EA9-B0FF-F73A-6969F1748BE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971E37B-0C01-A7DE-75CB-7227FEC61BB6}"/>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6" name="Espace réservé du pied de page 5">
            <a:extLst>
              <a:ext uri="{FF2B5EF4-FFF2-40B4-BE49-F238E27FC236}">
                <a16:creationId xmlns:a16="http://schemas.microsoft.com/office/drawing/2014/main" id="{744FEC40-DA53-D54F-B3C4-28F80A4ED7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9545797-D5D8-EFB3-DCBC-8F0F1677BE65}"/>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1679268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B2FB91-7926-BED7-8336-2A38AE22EBC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B2E43F2-8217-B28D-CCC5-9E0D8846DD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5ACE9E6-E9EE-A064-FC61-ABBE7B07C4B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FFA8DC8-5CE3-ED7A-BCDA-F55D66D1F3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A6F71FD-13ED-3E49-4CF3-86933C28694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C82AFA2-EC1A-8854-27CD-4B258D54442E}"/>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8" name="Espace réservé du pied de page 7">
            <a:extLst>
              <a:ext uri="{FF2B5EF4-FFF2-40B4-BE49-F238E27FC236}">
                <a16:creationId xmlns:a16="http://schemas.microsoft.com/office/drawing/2014/main" id="{1CC8526C-6C7F-DC74-CEBB-D0A052DC3B0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B072A7C-4D22-1C67-6C4A-62A7B5902D90}"/>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1124605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DD3DFB-BA7E-818C-CCAA-F0195BBD70F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CF2024D-6845-E26C-016A-7E26D6D51057}"/>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4" name="Espace réservé du pied de page 3">
            <a:extLst>
              <a:ext uri="{FF2B5EF4-FFF2-40B4-BE49-F238E27FC236}">
                <a16:creationId xmlns:a16="http://schemas.microsoft.com/office/drawing/2014/main" id="{CD1A6D9F-6801-8399-43FF-806F3CA2347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C87F070-06A1-8122-CF50-79C2B22D7B07}"/>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4032187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2433D3F-058F-6434-FFDD-6D1C0053B4AB}"/>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3" name="Espace réservé du pied de page 2">
            <a:extLst>
              <a:ext uri="{FF2B5EF4-FFF2-40B4-BE49-F238E27FC236}">
                <a16:creationId xmlns:a16="http://schemas.microsoft.com/office/drawing/2014/main" id="{73E6B250-74C5-DA9A-2746-1439CF3F107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EBFA093-B03C-002D-7752-1318FCA9A1BA}"/>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1227528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FFF2C8-26CA-FD66-2246-A69778B8995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BD56F77-9923-05EF-4A39-2B4B171A7D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1AE0057-9E57-5562-3355-EFFCB9776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38AB51-2F86-4F73-D4C4-4F50564B769F}"/>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6" name="Espace réservé du pied de page 5">
            <a:extLst>
              <a:ext uri="{FF2B5EF4-FFF2-40B4-BE49-F238E27FC236}">
                <a16:creationId xmlns:a16="http://schemas.microsoft.com/office/drawing/2014/main" id="{CE596FE7-0A05-67C1-0EAF-55AEE2B6D6E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D81666A-E977-775F-5066-A1F2E1896425}"/>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3435909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0C3995-3291-6065-8F62-6FFCACACBFC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9DA4D69-277C-E844-C5AD-131B6663A8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BE8EF48-EEF2-FB77-C8CD-E43BDE123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4B76A78-3EBD-CE3F-2C3A-BCA94A5D5820}"/>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6" name="Espace réservé du pied de page 5">
            <a:extLst>
              <a:ext uri="{FF2B5EF4-FFF2-40B4-BE49-F238E27FC236}">
                <a16:creationId xmlns:a16="http://schemas.microsoft.com/office/drawing/2014/main" id="{65A79787-4FFA-4E3A-52E0-58491D234CE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DA4DE47-3279-3399-D385-07A7F6197426}"/>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261280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7D26F4-B8BA-EC29-2718-00F151AF767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087B052-0340-5361-B9AD-D6E68D81ED8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806434-4C35-354C-1D0E-ADBB013E851E}"/>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E3A17027-37C0-AEBB-FB4E-2417644A9C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EC2890-27AF-DA42-1930-C871140798C7}"/>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3691049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989F2D7-4D00-7553-F8F9-595D8A6727E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F9C33D9-82F5-FF97-1B02-A8891A07B02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486543-8836-120C-9F6F-365133409B68}"/>
              </a:ext>
            </a:extLst>
          </p:cNvPr>
          <p:cNvSpPr>
            <a:spLocks noGrp="1"/>
          </p:cNvSpPr>
          <p:nvPr>
            <p:ph type="dt" sz="half" idx="10"/>
          </p:nvPr>
        </p:nvSpPr>
        <p:spPr/>
        <p:txBody>
          <a:body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09D445C9-73C7-18F4-FEEE-7BBF58A9E2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723F758-A084-F38D-35E8-B611492A0958}"/>
              </a:ext>
            </a:extLst>
          </p:cNvPr>
          <p:cNvSpPr>
            <a:spLocks noGrp="1"/>
          </p:cNvSpPr>
          <p:nvPr>
            <p:ph type="sldNum" sz="quarter" idx="12"/>
          </p:nvPr>
        </p:nvSpPr>
        <p:spPr/>
        <p:txBody>
          <a:bodyPr/>
          <a:lstStyle/>
          <a:p>
            <a:fld id="{400B14E1-C231-4C26-BBB6-B8FDF861E7AD}" type="slidenum">
              <a:rPr lang="fr-FR" smtClean="0"/>
              <a:t>‹N°›</a:t>
            </a:fld>
            <a:endParaRPr lang="fr-FR"/>
          </a:p>
        </p:txBody>
      </p:sp>
    </p:spTree>
    <p:extLst>
      <p:ext uri="{BB962C8B-B14F-4D97-AF65-F5344CB8AC3E}">
        <p14:creationId xmlns:p14="http://schemas.microsoft.com/office/powerpoint/2010/main" val="91493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44868E2-0813-4153-483D-4EADCFD2DE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2CEE348-AB91-DC0B-F25F-0F9F16A62A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286D55A-4AEC-86CF-37F2-D6FB8BA87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2D06B6-FFE5-4D2B-98F5-358DB063C2F6}" type="datetimeFigureOut">
              <a:rPr lang="fr-FR" smtClean="0"/>
              <a:t>11/10/2026</a:t>
            </a:fld>
            <a:endParaRPr lang="fr-FR"/>
          </a:p>
        </p:txBody>
      </p:sp>
      <p:sp>
        <p:nvSpPr>
          <p:cNvPr id="5" name="Espace réservé du pied de page 4">
            <a:extLst>
              <a:ext uri="{FF2B5EF4-FFF2-40B4-BE49-F238E27FC236}">
                <a16:creationId xmlns:a16="http://schemas.microsoft.com/office/drawing/2014/main" id="{6AA4F20A-54EE-213F-16D8-7CA02F099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08E11A1-D9A1-4C8C-D0AA-60D91D0E7E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0B14E1-C231-4C26-BBB6-B8FDF861E7AD}" type="slidenum">
              <a:rPr lang="fr-FR" smtClean="0"/>
              <a:t>‹N°›</a:t>
            </a:fld>
            <a:endParaRPr lang="fr-FR"/>
          </a:p>
        </p:txBody>
      </p:sp>
    </p:spTree>
    <p:extLst>
      <p:ext uri="{BB962C8B-B14F-4D97-AF65-F5344CB8AC3E}">
        <p14:creationId xmlns:p14="http://schemas.microsoft.com/office/powerpoint/2010/main" val="1651611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file:///C:\Users\elmou\Downloads\MOC%20&#226;&#128;&#147;%20Gestion%20des%20changements.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1C777B-8B06-F598-7B1C-A4898588C91A}"/>
              </a:ext>
            </a:extLst>
          </p:cNvPr>
          <p:cNvSpPr>
            <a:spLocks noGrp="1"/>
          </p:cNvSpPr>
          <p:nvPr>
            <p:ph type="ctrTitle"/>
          </p:nvPr>
        </p:nvSpPr>
        <p:spPr/>
        <p:txBody>
          <a:bodyPr/>
          <a:lstStyle/>
          <a:p>
            <a:r>
              <a:rPr lang="fr-FR" b="0" i="0" dirty="0">
                <a:solidFill>
                  <a:srgbClr val="0B0B0B"/>
                </a:solidFill>
                <a:effectLst/>
                <a:latin typeface="anthropic-sans"/>
              </a:rPr>
              <a:t>Gestion des changements (MOC)</a:t>
            </a:r>
            <a:endParaRPr lang="fr-FR" dirty="0"/>
          </a:p>
        </p:txBody>
      </p:sp>
      <p:sp>
        <p:nvSpPr>
          <p:cNvPr id="3" name="Sous-titre 2">
            <a:extLst>
              <a:ext uri="{FF2B5EF4-FFF2-40B4-BE49-F238E27FC236}">
                <a16:creationId xmlns:a16="http://schemas.microsoft.com/office/drawing/2014/main" id="{4891A454-BEBE-28BE-9D11-394FF4484148}"/>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18717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D75E7D-046F-33CB-684F-BBD0FA82850E}"/>
              </a:ext>
            </a:extLst>
          </p:cNvPr>
          <p:cNvSpPr>
            <a:spLocks noGrp="1"/>
          </p:cNvSpPr>
          <p:nvPr>
            <p:ph type="title"/>
          </p:nvPr>
        </p:nvSpPr>
        <p:spPr>
          <a:xfrm>
            <a:off x="838200" y="159851"/>
            <a:ext cx="10515600" cy="1325563"/>
          </a:xfrm>
        </p:spPr>
        <p:txBody>
          <a:bodyPr>
            <a:noAutofit/>
          </a:bodyPr>
          <a:lstStyle/>
          <a:p>
            <a:r>
              <a:rPr lang="fr-FR" sz="2800" dirty="0">
                <a:hlinkClick r:id="rId2"/>
              </a:rPr>
              <a:t>file:///C:/Users/elmou/Downloads/MOC%20%E2%80%93%20Gestion%20des%20changements.html</a:t>
            </a:r>
            <a:endParaRPr lang="fr-FR" sz="2800" dirty="0"/>
          </a:p>
        </p:txBody>
      </p:sp>
      <p:sp>
        <p:nvSpPr>
          <p:cNvPr id="3" name="Espace réservé du contenu 2">
            <a:extLst>
              <a:ext uri="{FF2B5EF4-FFF2-40B4-BE49-F238E27FC236}">
                <a16:creationId xmlns:a16="http://schemas.microsoft.com/office/drawing/2014/main" id="{4486742E-38D3-586B-11A0-16D888B793EF}"/>
              </a:ext>
            </a:extLst>
          </p:cNvPr>
          <p:cNvSpPr>
            <a:spLocks noGrp="1"/>
          </p:cNvSpPr>
          <p:nvPr>
            <p:ph idx="1"/>
          </p:nvPr>
        </p:nvSpPr>
        <p:spPr>
          <a:xfrm>
            <a:off x="205273" y="2490657"/>
            <a:ext cx="11579290" cy="2466457"/>
          </a:xfrm>
        </p:spPr>
        <p:txBody>
          <a:bodyPr>
            <a:normAutofit/>
          </a:bodyPr>
          <a:lstStyle/>
          <a:p>
            <a:r>
              <a:rPr lang="fr-FR" dirty="0"/>
              <a:t>Utiliser le lien ci-dessus car la plupart des boutons sont interactifs et affichent d’autres fenêtres</a:t>
            </a:r>
          </a:p>
          <a:p>
            <a:endParaRPr lang="fr-FR" dirty="0"/>
          </a:p>
          <a:p>
            <a:r>
              <a:rPr lang="fr-FR" dirty="0"/>
              <a:t>Un </a:t>
            </a:r>
            <a:r>
              <a:rPr lang="fr-FR" dirty="0" err="1"/>
              <a:t>exp</a:t>
            </a:r>
            <a:r>
              <a:rPr lang="fr-FR" dirty="0"/>
              <a:t> du résultat est sur la slide suivante</a:t>
            </a:r>
          </a:p>
        </p:txBody>
      </p:sp>
    </p:spTree>
    <p:extLst>
      <p:ext uri="{BB962C8B-B14F-4D97-AF65-F5344CB8AC3E}">
        <p14:creationId xmlns:p14="http://schemas.microsoft.com/office/powerpoint/2010/main" val="1060077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D8AFA7-3462-0793-5533-5D0FBE22DC37}"/>
              </a:ext>
            </a:extLst>
          </p:cNvPr>
          <p:cNvSpPr>
            <a:spLocks noGrp="1"/>
          </p:cNvSpPr>
          <p:nvPr>
            <p:ph type="title"/>
          </p:nvPr>
        </p:nvSpPr>
        <p:spPr>
          <a:xfrm>
            <a:off x="614265" y="169182"/>
            <a:ext cx="10515600" cy="1325563"/>
          </a:xfrm>
        </p:spPr>
        <p:txBody>
          <a:bodyPr>
            <a:noAutofit/>
          </a:bodyPr>
          <a:lstStyle/>
          <a:p>
            <a:r>
              <a:rPr lang="fr-FR" sz="2400" dirty="0"/>
              <a:t>Cette slide et les </a:t>
            </a:r>
            <a:r>
              <a:rPr lang="fr-FR" sz="2400"/>
              <a:t>3 prochaines sont </a:t>
            </a:r>
            <a:r>
              <a:rPr lang="fr-FR" sz="2400" dirty="0"/>
              <a:t>du même </a:t>
            </a:r>
            <a:r>
              <a:rPr lang="fr-FR" sz="2400" dirty="0" err="1"/>
              <a:t>exp</a:t>
            </a:r>
            <a:r>
              <a:rPr lang="fr-FR" sz="2400" dirty="0"/>
              <a:t> de demande de changement (demande, analyse d’impact, validation et historique)</a:t>
            </a:r>
          </a:p>
        </p:txBody>
      </p:sp>
      <p:sp>
        <p:nvSpPr>
          <p:cNvPr id="3" name="Espace réservé du contenu 2">
            <a:extLst>
              <a:ext uri="{FF2B5EF4-FFF2-40B4-BE49-F238E27FC236}">
                <a16:creationId xmlns:a16="http://schemas.microsoft.com/office/drawing/2014/main" id="{DA90C286-5BCB-182B-A0D3-81178A9A6293}"/>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DC8C7FDC-DB11-E6EF-472A-B2C25C54F1BB}"/>
              </a:ext>
            </a:extLst>
          </p:cNvPr>
          <p:cNvPicPr>
            <a:picLocks noChangeAspect="1"/>
          </p:cNvPicPr>
          <p:nvPr/>
        </p:nvPicPr>
        <p:blipFill>
          <a:blip r:embed="rId2"/>
          <a:stretch>
            <a:fillRect/>
          </a:stretch>
        </p:blipFill>
        <p:spPr>
          <a:xfrm>
            <a:off x="0" y="1429140"/>
            <a:ext cx="12192000" cy="3999719"/>
          </a:xfrm>
          <a:prstGeom prst="rect">
            <a:avLst/>
          </a:prstGeom>
        </p:spPr>
      </p:pic>
    </p:spTree>
    <p:extLst>
      <p:ext uri="{BB962C8B-B14F-4D97-AF65-F5344CB8AC3E}">
        <p14:creationId xmlns:p14="http://schemas.microsoft.com/office/powerpoint/2010/main" val="3619482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8067A0F-A4C6-9344-743E-510FCF18E891}"/>
              </a:ext>
            </a:extLst>
          </p:cNvPr>
          <p:cNvPicPr>
            <a:picLocks noChangeAspect="1"/>
          </p:cNvPicPr>
          <p:nvPr/>
        </p:nvPicPr>
        <p:blipFill>
          <a:blip r:embed="rId2"/>
          <a:srcRect l="13351" t="8692" r="12951"/>
          <a:stretch/>
        </p:blipFill>
        <p:spPr>
          <a:xfrm>
            <a:off x="307909" y="221529"/>
            <a:ext cx="5570377" cy="3812833"/>
          </a:xfrm>
          <a:prstGeom prst="rect">
            <a:avLst/>
          </a:prstGeom>
        </p:spPr>
      </p:pic>
      <p:pic>
        <p:nvPicPr>
          <p:cNvPr id="7" name="Image 6">
            <a:extLst>
              <a:ext uri="{FF2B5EF4-FFF2-40B4-BE49-F238E27FC236}">
                <a16:creationId xmlns:a16="http://schemas.microsoft.com/office/drawing/2014/main" id="{C22F8AB1-5167-E754-E675-790A97A48CCE}"/>
              </a:ext>
            </a:extLst>
          </p:cNvPr>
          <p:cNvPicPr>
            <a:picLocks noChangeAspect="1"/>
          </p:cNvPicPr>
          <p:nvPr/>
        </p:nvPicPr>
        <p:blipFill>
          <a:blip r:embed="rId3"/>
          <a:stretch>
            <a:fillRect/>
          </a:stretch>
        </p:blipFill>
        <p:spPr>
          <a:xfrm>
            <a:off x="345233" y="4043693"/>
            <a:ext cx="5437028" cy="1731957"/>
          </a:xfrm>
          <a:prstGeom prst="rect">
            <a:avLst/>
          </a:prstGeom>
        </p:spPr>
      </p:pic>
      <p:sp>
        <p:nvSpPr>
          <p:cNvPr id="6" name="ZoneTexte 5">
            <a:extLst>
              <a:ext uri="{FF2B5EF4-FFF2-40B4-BE49-F238E27FC236}">
                <a16:creationId xmlns:a16="http://schemas.microsoft.com/office/drawing/2014/main" id="{6E5DDE20-B5CA-9184-F1FB-C7B57EC64DDE}"/>
              </a:ext>
            </a:extLst>
          </p:cNvPr>
          <p:cNvSpPr txBox="1"/>
          <p:nvPr/>
        </p:nvSpPr>
        <p:spPr>
          <a:xfrm>
            <a:off x="5878286" y="677844"/>
            <a:ext cx="6097554" cy="3895746"/>
          </a:xfrm>
          <a:prstGeom prst="rect">
            <a:avLst/>
          </a:prstGeom>
          <a:noFill/>
        </p:spPr>
        <p:txBody>
          <a:bodyPr wrap="square">
            <a:spAutoFit/>
          </a:bodyPr>
          <a:lstStyle/>
          <a:p>
            <a:pPr rtl="0">
              <a:lnSpc>
                <a:spcPct val="200000"/>
              </a:lnSpc>
              <a:buFont typeface="Arial" panose="020B0604020202020204" pitchFamily="34" charset="0"/>
              <a:buChar char="•"/>
            </a:pPr>
            <a:r>
              <a:rPr lang="fr-FR" b="1" dirty="0"/>
              <a:t>Analyse d'impact :</a:t>
            </a:r>
            <a:r>
              <a:rPr lang="fr-FR" dirty="0"/>
              <a:t> huit domaines à évaluer (sécurité, santé et environnement, qualité, production, maintenance, coûts, réglementaire, formation), avec un niveau Aucun, Faible, Moyen ou Élevé et un commentaire par domaine. Un score sur 100 et une classification (Mineur, Majeur ou Critique) s'en déduisent. La soumission à validation reste bloquée tant que tous les domaines ne sont pas évalués.</a:t>
            </a:r>
          </a:p>
        </p:txBody>
      </p:sp>
    </p:spTree>
    <p:extLst>
      <p:ext uri="{BB962C8B-B14F-4D97-AF65-F5344CB8AC3E}">
        <p14:creationId xmlns:p14="http://schemas.microsoft.com/office/powerpoint/2010/main" val="157120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18B03B8-7904-90A6-52D7-37F872E2B021}"/>
              </a:ext>
            </a:extLst>
          </p:cNvPr>
          <p:cNvPicPr>
            <a:picLocks noChangeAspect="1"/>
          </p:cNvPicPr>
          <p:nvPr/>
        </p:nvPicPr>
        <p:blipFill>
          <a:blip r:embed="rId2"/>
          <a:stretch>
            <a:fillRect/>
          </a:stretch>
        </p:blipFill>
        <p:spPr>
          <a:xfrm>
            <a:off x="1675731" y="66545"/>
            <a:ext cx="8439063" cy="4673406"/>
          </a:xfrm>
          <a:prstGeom prst="rect">
            <a:avLst/>
          </a:prstGeom>
        </p:spPr>
      </p:pic>
      <p:sp>
        <p:nvSpPr>
          <p:cNvPr id="6" name="ZoneTexte 5">
            <a:extLst>
              <a:ext uri="{FF2B5EF4-FFF2-40B4-BE49-F238E27FC236}">
                <a16:creationId xmlns:a16="http://schemas.microsoft.com/office/drawing/2014/main" id="{BC59520E-72A2-A08C-BF96-017D0A080411}"/>
              </a:ext>
            </a:extLst>
          </p:cNvPr>
          <p:cNvSpPr txBox="1"/>
          <p:nvPr/>
        </p:nvSpPr>
        <p:spPr>
          <a:xfrm>
            <a:off x="291193" y="4702629"/>
            <a:ext cx="11609614" cy="2233753"/>
          </a:xfrm>
          <a:prstGeom prst="rect">
            <a:avLst/>
          </a:prstGeom>
          <a:noFill/>
        </p:spPr>
        <p:txBody>
          <a:bodyPr wrap="square">
            <a:spAutoFit/>
          </a:bodyPr>
          <a:lstStyle/>
          <a:p>
            <a:pPr rtl="0">
              <a:lnSpc>
                <a:spcPct val="200000"/>
              </a:lnSpc>
              <a:buFont typeface="Arial" panose="020B0604020202020204" pitchFamily="34" charset="0"/>
              <a:buChar char="•"/>
            </a:pPr>
            <a:r>
              <a:rPr lang="fr-FR" b="1" dirty="0"/>
              <a:t>Validation :</a:t>
            </a:r>
            <a:r>
              <a:rPr lang="fr-FR" dirty="0"/>
              <a:t> les validateurs requis dépendent de la classification. Un changement mineur passe par le Responsable de service et le HSE. Un changement majeur ajoute le Directeur technique, et un changement critique ajoute aussi le Directeur de site. Un seul refus rejette la demande, avec un commentaire obligatoire. Une demande rejetée peut être rouverte en analyse.</a:t>
            </a:r>
          </a:p>
        </p:txBody>
      </p:sp>
    </p:spTree>
    <p:extLst>
      <p:ext uri="{BB962C8B-B14F-4D97-AF65-F5344CB8AC3E}">
        <p14:creationId xmlns:p14="http://schemas.microsoft.com/office/powerpoint/2010/main" val="35808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576930-15EE-853A-549C-340E5CE44158}"/>
              </a:ext>
            </a:extLst>
          </p:cNvPr>
          <p:cNvSpPr>
            <a:spLocks noGrp="1"/>
          </p:cNvSpPr>
          <p:nvPr>
            <p:ph type="title"/>
          </p:nvPr>
        </p:nvSpPr>
        <p:spPr/>
        <p:txBody>
          <a:bodyPr/>
          <a:lstStyle/>
          <a:p>
            <a:endParaRPr lang="fr-FR"/>
          </a:p>
        </p:txBody>
      </p:sp>
      <p:pic>
        <p:nvPicPr>
          <p:cNvPr id="5" name="Image 4">
            <a:extLst>
              <a:ext uri="{FF2B5EF4-FFF2-40B4-BE49-F238E27FC236}">
                <a16:creationId xmlns:a16="http://schemas.microsoft.com/office/drawing/2014/main" id="{AAC30363-13AB-7E08-C6D0-812ABD53F897}"/>
              </a:ext>
            </a:extLst>
          </p:cNvPr>
          <p:cNvPicPr>
            <a:picLocks noChangeAspect="1"/>
          </p:cNvPicPr>
          <p:nvPr/>
        </p:nvPicPr>
        <p:blipFill>
          <a:blip r:embed="rId2"/>
          <a:stretch>
            <a:fillRect/>
          </a:stretch>
        </p:blipFill>
        <p:spPr>
          <a:xfrm>
            <a:off x="0" y="534193"/>
            <a:ext cx="12192000" cy="3942152"/>
          </a:xfrm>
          <a:prstGeom prst="rect">
            <a:avLst/>
          </a:prstGeom>
        </p:spPr>
      </p:pic>
      <p:sp>
        <p:nvSpPr>
          <p:cNvPr id="6" name="ZoneTexte 5">
            <a:extLst>
              <a:ext uri="{FF2B5EF4-FFF2-40B4-BE49-F238E27FC236}">
                <a16:creationId xmlns:a16="http://schemas.microsoft.com/office/drawing/2014/main" id="{65A8593C-796E-BAAB-52C2-BB3CDC0E72EC}"/>
              </a:ext>
            </a:extLst>
          </p:cNvPr>
          <p:cNvSpPr txBox="1"/>
          <p:nvPr/>
        </p:nvSpPr>
        <p:spPr>
          <a:xfrm>
            <a:off x="660140" y="4925304"/>
            <a:ext cx="9090349" cy="369332"/>
          </a:xfrm>
          <a:prstGeom prst="rect">
            <a:avLst/>
          </a:prstGeom>
          <a:noFill/>
        </p:spPr>
        <p:txBody>
          <a:bodyPr wrap="square">
            <a:spAutoFit/>
          </a:bodyPr>
          <a:lstStyle/>
          <a:p>
            <a:pPr rtl="0">
              <a:buFont typeface="Arial" panose="020B0604020202020204" pitchFamily="34" charset="0"/>
              <a:buChar char="•"/>
            </a:pPr>
            <a:r>
              <a:rPr lang="fr-FR" b="1" dirty="0"/>
              <a:t>Suivi :</a:t>
            </a:r>
            <a:r>
              <a:rPr lang="fr-FR" dirty="0"/>
              <a:t> création de nouvelles demandes, filtre par statut et historique daté des actions.</a:t>
            </a:r>
          </a:p>
        </p:txBody>
      </p:sp>
    </p:spTree>
    <p:extLst>
      <p:ext uri="{BB962C8B-B14F-4D97-AF65-F5344CB8AC3E}">
        <p14:creationId xmlns:p14="http://schemas.microsoft.com/office/powerpoint/2010/main" val="85131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23DB150-B194-7A28-160F-89A59F86950F}"/>
              </a:ext>
            </a:extLst>
          </p:cNvPr>
          <p:cNvSpPr>
            <a:spLocks noGrp="1"/>
          </p:cNvSpPr>
          <p:nvPr>
            <p:ph idx="1"/>
          </p:nvPr>
        </p:nvSpPr>
        <p:spPr>
          <a:xfrm>
            <a:off x="838200" y="1825625"/>
            <a:ext cx="10515600" cy="2349560"/>
          </a:xfrm>
        </p:spPr>
        <p:txBody>
          <a:bodyPr/>
          <a:lstStyle/>
          <a:p>
            <a:r>
              <a:rPr lang="fr-FR" dirty="0"/>
              <a:t>Penser a ajouter quelque part un bouton d’extraction en Excel de toutes les demandes</a:t>
            </a:r>
          </a:p>
          <a:p>
            <a:endParaRPr lang="fr-FR" dirty="0"/>
          </a:p>
          <a:p>
            <a:r>
              <a:rPr lang="fr-FR" dirty="0"/>
              <a:t>Ajouter un bouton pour supprimer la demande a l’</a:t>
            </a:r>
            <a:r>
              <a:rPr lang="fr-FR" dirty="0" err="1"/>
              <a:t>etape</a:t>
            </a:r>
            <a:r>
              <a:rPr lang="fr-FR" dirty="0"/>
              <a:t> de Brouillon</a:t>
            </a:r>
          </a:p>
        </p:txBody>
      </p:sp>
    </p:spTree>
    <p:extLst>
      <p:ext uri="{BB962C8B-B14F-4D97-AF65-F5344CB8AC3E}">
        <p14:creationId xmlns:p14="http://schemas.microsoft.com/office/powerpoint/2010/main" val="27734482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254</Words>
  <Application>Microsoft Office PowerPoint</Application>
  <PresentationFormat>Grand écran</PresentationFormat>
  <Paragraphs>12</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anthropic-sans</vt:lpstr>
      <vt:lpstr>Aptos</vt:lpstr>
      <vt:lpstr>Aptos Display</vt:lpstr>
      <vt:lpstr>Arial</vt:lpstr>
      <vt:lpstr>Thème Office</vt:lpstr>
      <vt:lpstr>Gestion des changements (MOC)</vt:lpstr>
      <vt:lpstr>file:///C:/Users/elmou/Downloads/MOC%20%E2%80%93%20Gestion%20des%20changements.html</vt:lpstr>
      <vt:lpstr>Cette slide et les 3 prochaines sont du même exp de demande de changement (demande, analyse d’impact, validation et historique)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el mouatassim</dc:creator>
  <cp:lastModifiedBy>ahmed el mouatassim</cp:lastModifiedBy>
  <cp:revision>10</cp:revision>
  <dcterms:created xsi:type="dcterms:W3CDTF">2026-10-01T20:45:33Z</dcterms:created>
  <dcterms:modified xsi:type="dcterms:W3CDTF">2026-10-11T20:50:53Z</dcterms:modified>
</cp:coreProperties>
</file>